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300" b="0" i="0" u="none" strike="noStrike" kern="1200" baseline="0">
                <a:solidFill>
                  <a:srgbClr val="1C2B5E"/>
                </a:solidFill>
                <a:latin typeface="Arial" panose="020B0604020202020204"/>
                <a:ea typeface="+mn-ea"/>
                <a:cs typeface="+mn-cs"/>
              </a:defRPr>
            </a:pPr>
            <a:r>
              <a:rPr sz="1300" b="0" i="0" u="none" strike="noStrike">
                <a:solidFill>
                  <a:srgbClr val="1C2B5E"/>
                </a:solidFill>
                <a:latin typeface="Arial" panose="020B0604020202020204"/>
              </a:rPr>
              <a:t>Розподіл Rating</a:t>
            </a:r>
            <a:endParaRPr sz="1300" b="0" i="0" u="none" strike="noStrike">
              <a:solidFill>
                <a:srgbClr val="1C2B5E"/>
              </a:solidFill>
              <a:latin typeface="Arial" panose="020B0604020202020204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Кількість</c:v>
                </c:pt>
              </c:strCache>
            </c:strRef>
          </c:tx>
          <c:spPr>
            <a:solidFill>
              <a:srgbClr val="1C2B5E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C2B5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C2B5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C2B5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C2B5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9A055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9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numRef>
              <c:f>Sheet1!$A$2:$A$6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578</c:v>
                </c:pt>
                <c:pt idx="1">
                  <c:v>374</c:v>
                </c:pt>
                <c:pt idx="2">
                  <c:v>854</c:v>
                </c:pt>
                <c:pt idx="3">
                  <c:v>2204</c:v>
                </c:pt>
                <c:pt idx="4">
                  <c:v>9280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82cf8595-af3d-4c00-b6e0-204409e526fa}"/>
      </c:ext>
    </c:extLst>
  </c:chart>
  <c:spPr>
    <a:solidFill>
      <a:srgbClr val="F0F4FA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300" b="0" i="0" u="none" strike="noStrike" kern="1200" baseline="0">
                <a:solidFill>
                  <a:srgbClr val="1C2B5E"/>
                </a:solidFill>
                <a:latin typeface="Arial" panose="020B0604020202020204"/>
                <a:ea typeface="+mn-ea"/>
                <a:cs typeface="+mn-cs"/>
              </a:defRPr>
            </a:pPr>
            <a:r>
              <a:rPr sz="1300" b="0" i="0" u="none" strike="noStrike">
                <a:solidFill>
                  <a:srgbClr val="1C2B5E"/>
                </a:solidFill>
                <a:latin typeface="Arial" panose="020B0604020202020204"/>
              </a:rPr>
              <a:t>Розподіл Recommended</a:t>
            </a:r>
            <a:endParaRPr sz="1300" b="0" i="0" u="none" strike="noStrike">
              <a:solidFill>
                <a:srgbClr val="1C2B5E"/>
              </a:solidFill>
              <a:latin typeface="Arial" panose="020B0604020202020204"/>
            </a:endParaRP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Recommended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explosion val="0"/>
          <c:dPt>
            <c:idx val="0"/>
            <c:bubble3D val="0"/>
            <c:spPr>
              <a:solidFill>
                <a:srgbClr val="2E8B57"/>
              </a:solidFill>
              <a:effectLst/>
            </c:spPr>
          </c:dPt>
          <c:dPt>
            <c:idx val="1"/>
            <c:bubble3D val="0"/>
            <c:spPr>
              <a:solidFill>
                <a:srgbClr val="D94F4F"/>
              </a:solidFill>
              <a:effectLst/>
            </c:spPr>
          </c:dPt>
          <c:dLbls>
            <c:dLbl>
              <c:idx val="0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200" b="0" i="0" u="none" strike="noStrike" kern="1200" baseline="0">
                      <a:solidFill>
                        <a:srgbClr val="000000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200" b="0" i="0" u="none" strike="noStrike" kern="1200" baseline="0">
                      <a:solidFill>
                        <a:srgbClr val="000000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8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Sheet1!$A$2:$A$3</c:f>
              <c:strCache>
                <c:ptCount val="2"/>
                <c:pt idx="0">
                  <c:v>Рекомендує (1)</c:v>
                </c:pt>
                <c:pt idx="1">
                  <c:v>Не рекомендує (0)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82</c:v>
                </c:pt>
                <c:pt idx="1">
                  <c:v>18</c:v>
                </c:pt>
              </c:numCache>
            </c:numRef>
          </c:val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en-US" sz="11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612192ea-2153-4a17-b62f-f79afa29861f}"/>
      </c:ext>
    </c:extLst>
  </c:chart>
  <c:spPr>
    <a:solidFill>
      <a:srgbClr val="F0F4FA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chart" Target="../charts/chart2.xml"/><Relationship Id="rId1" Type="http://schemas.openxmlformats.org/officeDocument/2006/relationships/chart" Target="../charts/char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D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C9A055"/>
          </a:solidFill>
          <a:ln w="12700">
            <a:solidFill>
              <a:srgbClr val="C9A0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05840"/>
            <a:ext cx="82296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Fashion Product Reviews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C9A0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NLP Analysis &amp; Prediction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2487168"/>
            <a:ext cx="5943600" cy="36576"/>
          </a:xfrm>
          <a:prstGeom prst="rect">
            <a:avLst/>
          </a:prstGeom>
          <a:solidFill>
            <a:srgbClr val="C9A055"/>
          </a:solidFill>
          <a:ln w="12700">
            <a:solidFill>
              <a:srgbClr val="C9A0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69748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ABB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Kaggle Competition  |  </a:t>
            </a: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Final Project DS 3+4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15468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0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Задачі:  </a:t>
            </a: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передбачення </a:t>
            </a:r>
            <a:r>
              <a:rPr lang="en-US" sz="1400" b="1" dirty="0">
                <a:solidFill>
                  <a:srgbClr val="7EC8E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Rating (1–5)</a:t>
            </a: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та  </a:t>
            </a:r>
            <a:r>
              <a:rPr lang="en-US" sz="1400" b="1" dirty="0">
                <a:solidFill>
                  <a:srgbClr val="7EC8E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Recommended (0/1)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0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Моделі:  </a:t>
            </a:r>
            <a:r>
              <a:rPr lang="en-US" sz="1400" dirty="0">
                <a:solidFill>
                  <a:srgbClr val="AABB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LogisticRegression + BoW     Bidirectional LSTM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uk-UA" altLang="en-US" sz="3200" b="1" dirty="0">
                <a:solidFill>
                  <a:schemeClr val="bg1"/>
                </a:solidFill>
              </a:rPr>
              <a:t>Ірина Косенко</a:t>
            </a:r>
            <a:endParaRPr lang="uk-UA" altLang="en-US" sz="32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B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Про що проект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2743200" cy="3474720"/>
          </a:xfrm>
          <a:prstGeom prst="rect">
            <a:avLst/>
          </a:prstGeom>
          <a:solidFill>
            <a:srgbClr val="F0F4FA"/>
          </a:solidFill>
          <a:ln w="12700">
            <a:solidFill>
              <a:srgbClr val="D0D8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914400"/>
            <a:ext cx="2743200" cy="502920"/>
          </a:xfrm>
          <a:prstGeom prst="rect">
            <a:avLst/>
          </a:prstGeom>
          <a:solidFill>
            <a:srgbClr val="1C2B5E"/>
          </a:solidFill>
          <a:ln w="12700">
            <a:solidFill>
              <a:srgbClr val="1C2B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2743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Контекст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508760"/>
            <a:ext cx="2468880" cy="2788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Інтернет-магазини одягу отримують тисячі текстових відгуків. Аналіз цих відгуків дозволяє зрозуміти, які товари задовольняють покупців, а де є проблеми.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46120" y="914400"/>
            <a:ext cx="2743200" cy="3474720"/>
          </a:xfrm>
          <a:prstGeom prst="rect">
            <a:avLst/>
          </a:prstGeom>
          <a:solidFill>
            <a:srgbClr val="F0F4FA"/>
          </a:solidFill>
          <a:ln w="12700">
            <a:solidFill>
              <a:srgbClr val="D0D8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46120" y="914400"/>
            <a:ext cx="2743200" cy="502920"/>
          </a:xfrm>
          <a:prstGeom prst="rect">
            <a:avLst/>
          </a:prstGeom>
          <a:solidFill>
            <a:srgbClr val="1A6B4A"/>
          </a:solidFill>
          <a:ln w="12700">
            <a:solidFill>
              <a:srgbClr val="1A6B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46120" y="914400"/>
            <a:ext cx="2743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Задача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383280" y="1508760"/>
            <a:ext cx="2468880" cy="2788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На основі тексту відгуку та метаданих (вік, категорія) передбачити: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Rating — числова оцінка 1–5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Recommended — чи рекомендує покупець товар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914400"/>
            <a:ext cx="2743200" cy="3474720"/>
          </a:xfrm>
          <a:prstGeom prst="rect">
            <a:avLst/>
          </a:prstGeom>
          <a:solidFill>
            <a:srgbClr val="F0F4FA"/>
          </a:solidFill>
          <a:ln w="12700">
            <a:solidFill>
              <a:srgbClr val="D0D8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26480" y="914400"/>
            <a:ext cx="2743200" cy="502920"/>
          </a:xfrm>
          <a:prstGeom prst="rect">
            <a:avLst/>
          </a:prstGeom>
          <a:solidFill>
            <a:srgbClr val="6B3A1A"/>
          </a:solidFill>
          <a:ln w="12700">
            <a:solidFill>
              <a:srgbClr val="6B3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914400"/>
            <a:ext cx="2743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Підхід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263640" y="1508760"/>
            <a:ext cx="2468880" cy="2788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EDA → очистка тексту (spaCy) → класичні NLP-техніки → BoW + LogisticRegression → Bidirectional LSTM → Kaggle submission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4572000"/>
            <a:ext cx="8412480" cy="411480"/>
          </a:xfrm>
          <a:prstGeom prst="rect">
            <a:avLst/>
          </a:prstGeom>
          <a:solidFill>
            <a:srgbClr val="E6EDF8"/>
          </a:solidFill>
          <a:ln w="12700">
            <a:solidFill>
              <a:srgbClr val="CBD5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4572000"/>
            <a:ext cx="8229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Вимоги: EDA  •  Класичні NLP-техніки  •  BoW модель  •  RNN модель  •  Leaderboard score ≥ median − 0.05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B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EDA — Ключові висновки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1920240" cy="1051560"/>
          </a:xfrm>
          <a:prstGeom prst="rect">
            <a:avLst/>
          </a:prstGeom>
          <a:solidFill>
            <a:srgbClr val="1C2B5E"/>
          </a:solidFill>
          <a:ln w="12700">
            <a:solidFill>
              <a:srgbClr val="1C2B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65760" y="841248"/>
            <a:ext cx="19202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9A0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14 091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399032"/>
            <a:ext cx="19202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6ED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рядків у датасеті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514600" y="822960"/>
            <a:ext cx="1920240" cy="1051560"/>
          </a:xfrm>
          <a:prstGeom prst="rect">
            <a:avLst/>
          </a:prstGeom>
          <a:solidFill>
            <a:srgbClr val="1C2B5E"/>
          </a:solidFill>
          <a:ln w="12700">
            <a:solidFill>
              <a:srgbClr val="1C2B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514600" y="841248"/>
            <a:ext cx="19202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9A0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82%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514600" y="1399032"/>
            <a:ext cx="19202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6ED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Recommended =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822960"/>
            <a:ext cx="1920240" cy="1051560"/>
          </a:xfrm>
          <a:prstGeom prst="rect">
            <a:avLst/>
          </a:prstGeom>
          <a:solidFill>
            <a:srgbClr val="1C2B5E"/>
          </a:solidFill>
          <a:ln w="12700">
            <a:solidFill>
              <a:srgbClr val="1C2B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63440" y="841248"/>
            <a:ext cx="19202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9A0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56%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663440" y="1399032"/>
            <a:ext cx="19202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6ED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Rating = 5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812280" y="822960"/>
            <a:ext cx="1920240" cy="1051560"/>
          </a:xfrm>
          <a:prstGeom prst="rect">
            <a:avLst/>
          </a:prstGeom>
          <a:solidFill>
            <a:srgbClr val="1C2B5E"/>
          </a:solidFill>
          <a:ln w="12700">
            <a:solidFill>
              <a:srgbClr val="1C2B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812280" y="841248"/>
            <a:ext cx="19202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9A0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0.79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812280" y="1399032"/>
            <a:ext cx="19202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6ED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кореляція Rating ↔ Recommended</a:t>
            </a:r>
            <a:endParaRPr lang="en-US" sz="1000" dirty="0"/>
          </a:p>
        </p:txBody>
      </p:sp>
      <p:graphicFrame>
        <p:nvGraphicFramePr>
          <p:cNvPr id="15" name="Chart 0"/>
          <p:cNvGraphicFramePr/>
          <p:nvPr/>
        </p:nvGraphicFramePr>
        <p:xfrm>
          <a:off x="365760" y="2011680"/>
          <a:ext cx="411480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6" name="Chart 1"/>
          <p:cNvGraphicFramePr/>
          <p:nvPr/>
        </p:nvGraphicFramePr>
        <p:xfrm>
          <a:off x="4663440" y="2011680"/>
          <a:ext cx="411480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7" name="Text 13"/>
          <p:cNvSpPr/>
          <p:nvPr/>
        </p:nvSpPr>
        <p:spPr>
          <a:xfrm>
            <a:off x="365760" y="470916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94F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Датасет суттєво незбалансований — необхідна спеціальна обробка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B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Інструменти та технології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2743200" cy="1828800"/>
          </a:xfrm>
          <a:prstGeom prst="rect">
            <a:avLst/>
          </a:prstGeom>
          <a:solidFill>
            <a:srgbClr val="F0F4FA"/>
          </a:solidFill>
          <a:ln w="12700">
            <a:solidFill>
              <a:srgbClr val="CBD5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914400"/>
            <a:ext cx="109728" cy="1828800"/>
          </a:xfrm>
          <a:prstGeom prst="rect">
            <a:avLst/>
          </a:prstGeom>
          <a:solidFill>
            <a:srgbClr val="C9A055"/>
          </a:solidFill>
          <a:ln w="12700">
            <a:solidFill>
              <a:srgbClr val="C9A0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78408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Обробка даних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2514600" cy="13258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pandas — завантаження, очистка, препроцесінг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NumPy — матричні операції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SciPy sparse — розріджені матриці для BoW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46120" y="914400"/>
            <a:ext cx="2743200" cy="1828800"/>
          </a:xfrm>
          <a:prstGeom prst="rect">
            <a:avLst/>
          </a:prstGeom>
          <a:solidFill>
            <a:srgbClr val="F0F4FA"/>
          </a:solidFill>
          <a:ln w="12700">
            <a:solidFill>
              <a:srgbClr val="CBD5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46120" y="914400"/>
            <a:ext cx="109728" cy="1828800"/>
          </a:xfrm>
          <a:prstGeom prst="rect">
            <a:avLst/>
          </a:prstGeom>
          <a:solidFill>
            <a:srgbClr val="C9A055"/>
          </a:solidFill>
          <a:ln w="12700">
            <a:solidFill>
              <a:srgbClr val="C9A0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29000" y="978408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NLP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29000" y="1325880"/>
            <a:ext cx="2514600" cy="13258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spaCy en_core_web_sm — токенізація, лематизація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Keras Tokenizer — числова токенізація для RNN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Keras pad_sequences — вирівнювання довжини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26480" y="914400"/>
            <a:ext cx="2743200" cy="1828800"/>
          </a:xfrm>
          <a:prstGeom prst="rect">
            <a:avLst/>
          </a:prstGeom>
          <a:solidFill>
            <a:srgbClr val="F0F4FA"/>
          </a:solidFill>
          <a:ln w="12700">
            <a:solidFill>
              <a:srgbClr val="CBD5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26480" y="914400"/>
            <a:ext cx="109728" cy="1828800"/>
          </a:xfrm>
          <a:prstGeom prst="rect">
            <a:avLst/>
          </a:prstGeom>
          <a:solidFill>
            <a:srgbClr val="C9A055"/>
          </a:solidFill>
          <a:ln w="12700">
            <a:solidFill>
              <a:srgbClr val="C9A0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978408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ML / sklearn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09360" y="1325880"/>
            <a:ext cx="2514600" cy="13258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LogisticRegression (solver=saga)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CountVectorizer — BoW + bigrams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OrdinalEncoder, StandardScaler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compute_class_weight, cross_val_score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880360"/>
            <a:ext cx="2743200" cy="1828800"/>
          </a:xfrm>
          <a:prstGeom prst="rect">
            <a:avLst/>
          </a:prstGeom>
          <a:solidFill>
            <a:srgbClr val="F0F4FA"/>
          </a:solidFill>
          <a:ln w="12700">
            <a:solidFill>
              <a:srgbClr val="CBD5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880360"/>
            <a:ext cx="109728" cy="1828800"/>
          </a:xfrm>
          <a:prstGeom prst="rect">
            <a:avLst/>
          </a:prstGeom>
          <a:solidFill>
            <a:srgbClr val="C9A055"/>
          </a:solidFill>
          <a:ln w="12700">
            <a:solidFill>
              <a:srgbClr val="C9A0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944368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Deep Learning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3291840"/>
            <a:ext cx="2514600" cy="13258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TensorFlow / Keras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Bidirectional LSTM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Embedding, Dense, Dropout, Concatenate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EarlyStopping, ReduceLROnPlateau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46120" y="2880360"/>
            <a:ext cx="2743200" cy="1828800"/>
          </a:xfrm>
          <a:prstGeom prst="rect">
            <a:avLst/>
          </a:prstGeom>
          <a:solidFill>
            <a:srgbClr val="F0F4FA"/>
          </a:solidFill>
          <a:ln w="12700">
            <a:solidFill>
              <a:srgbClr val="CBD5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46120" y="2880360"/>
            <a:ext cx="109728" cy="1828800"/>
          </a:xfrm>
          <a:prstGeom prst="rect">
            <a:avLst/>
          </a:prstGeom>
          <a:solidFill>
            <a:srgbClr val="C9A055"/>
          </a:solidFill>
          <a:ln w="12700">
            <a:solidFill>
              <a:srgbClr val="C9A0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29000" y="2944368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Середовище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429000" y="3291840"/>
            <a:ext cx="2514600" cy="13258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Kaggle Notebooks (GPU)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 3.12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26480" y="2880360"/>
            <a:ext cx="2743200" cy="1828800"/>
          </a:xfrm>
          <a:prstGeom prst="rect">
            <a:avLst/>
          </a:prstGeom>
          <a:solidFill>
            <a:srgbClr val="F0F4FA"/>
          </a:solidFill>
          <a:ln w="12700">
            <a:solidFill>
              <a:srgbClr val="CBD5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26480" y="2880360"/>
            <a:ext cx="109728" cy="1828800"/>
          </a:xfrm>
          <a:prstGeom prst="rect">
            <a:avLst/>
          </a:prstGeom>
          <a:solidFill>
            <a:srgbClr val="C9A055"/>
          </a:solidFill>
          <a:ln w="12700">
            <a:solidFill>
              <a:srgbClr val="C9A0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0" y="2944368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Метрики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309360" y="3291840"/>
            <a:ext cx="2514600" cy="13258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F1-score — Recommended (бінарна)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MAE — Rating (мультикласова)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AUC — додаткова для LSTM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B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Класичні NLP-техніки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4206240" cy="658368"/>
          </a:xfrm>
          <a:prstGeom prst="rect">
            <a:avLst/>
          </a:prstGeom>
          <a:solidFill>
            <a:srgbClr val="E6EDF8"/>
          </a:solidFill>
          <a:ln w="12700">
            <a:solidFill>
              <a:srgbClr val="CBD5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868680"/>
            <a:ext cx="91440" cy="658368"/>
          </a:xfrm>
          <a:prstGeom prst="rect">
            <a:avLst/>
          </a:prstGeom>
          <a:solidFill>
            <a:srgbClr val="C9A055"/>
          </a:solidFill>
          <a:ln w="12700">
            <a:solidFill>
              <a:srgbClr val="C9A0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05256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Tokenization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39319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розбиття тексту на слова/токени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618488"/>
            <a:ext cx="4206240" cy="658368"/>
          </a:xfrm>
          <a:prstGeom prst="rect">
            <a:avLst/>
          </a:prstGeom>
          <a:solidFill>
            <a:srgbClr val="F0F4FA"/>
          </a:solidFill>
          <a:ln w="12700">
            <a:solidFill>
              <a:srgbClr val="CBD5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618488"/>
            <a:ext cx="91440" cy="658368"/>
          </a:xfrm>
          <a:prstGeom prst="rect">
            <a:avLst/>
          </a:prstGeom>
          <a:solidFill>
            <a:srgbClr val="C9A055"/>
          </a:solidFill>
          <a:ln w="12700">
            <a:solidFill>
              <a:srgbClr val="C9A0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655064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Lowercasing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1938528"/>
            <a:ext cx="39319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приведення до нижнього регістру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368296"/>
            <a:ext cx="4206240" cy="658368"/>
          </a:xfrm>
          <a:prstGeom prst="rect">
            <a:avLst/>
          </a:prstGeom>
          <a:solidFill>
            <a:srgbClr val="E6EDF8"/>
          </a:solidFill>
          <a:ln w="12700">
            <a:solidFill>
              <a:srgbClr val="CBD5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368296"/>
            <a:ext cx="91440" cy="658368"/>
          </a:xfrm>
          <a:prstGeom prst="rect">
            <a:avLst/>
          </a:prstGeom>
          <a:solidFill>
            <a:srgbClr val="C9A055"/>
          </a:solidFill>
          <a:ln w="12700">
            <a:solidFill>
              <a:srgbClr val="C9A0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404872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Lemmatization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2688336"/>
            <a:ext cx="39319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love/loved/loving → love  (обрано замість стемінгу, бо відгуки насичені прикметниками)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118104"/>
            <a:ext cx="4206240" cy="658368"/>
          </a:xfrm>
          <a:prstGeom prst="rect">
            <a:avLst/>
          </a:prstGeom>
          <a:solidFill>
            <a:srgbClr val="F0F4FA"/>
          </a:solidFill>
          <a:ln w="12700">
            <a:solidFill>
              <a:srgbClr val="CBD5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3118104"/>
            <a:ext cx="91440" cy="658368"/>
          </a:xfrm>
          <a:prstGeom prst="rect">
            <a:avLst/>
          </a:prstGeom>
          <a:solidFill>
            <a:srgbClr val="C9A055"/>
          </a:solidFill>
          <a:ln w="12700">
            <a:solidFill>
              <a:srgbClr val="C9A0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154680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Stop words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3438144"/>
            <a:ext cx="39319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видаляємо лише для BoW. Для RNN зберігаємо — "not great" ≠ "great"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867912"/>
            <a:ext cx="4206240" cy="658368"/>
          </a:xfrm>
          <a:prstGeom prst="rect">
            <a:avLst/>
          </a:prstGeom>
          <a:solidFill>
            <a:srgbClr val="E6EDF8"/>
          </a:solidFill>
          <a:ln w="12700">
            <a:solidFill>
              <a:srgbClr val="CBD5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867912"/>
            <a:ext cx="91440" cy="658368"/>
          </a:xfrm>
          <a:prstGeom prst="rect">
            <a:avLst/>
          </a:prstGeom>
          <a:solidFill>
            <a:srgbClr val="C9A055"/>
          </a:solidFill>
          <a:ln w="12700">
            <a:solidFill>
              <a:srgbClr val="C9A0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904488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N-grams (1,2)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4187952"/>
            <a:ext cx="39319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bigrams фіксують стійкі вирази: «runs small», «true size»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868680"/>
            <a:ext cx="4114800" cy="3200400"/>
          </a:xfrm>
          <a:prstGeom prst="rect">
            <a:avLst/>
          </a:prstGeom>
          <a:solidFill>
            <a:srgbClr val="1E2A3A"/>
          </a:solidFill>
          <a:ln w="12700">
            <a:solidFill>
              <a:srgbClr val="2A3F5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92040" y="868680"/>
            <a:ext cx="38404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05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clean_text()  для BoW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92040" y="1298448"/>
            <a:ext cx="3886200" cy="2651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8D8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def clean_text(text):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doc = nlp(str(text))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tokens = [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token.lemma_.lower()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for token in doc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if not token.is_stop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and not token.is_punct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and not token.is_space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and len(token.lemma_) &gt; 2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return " ".join(tokens)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54880" y="4187952"/>
            <a:ext cx="4114800" cy="777240"/>
          </a:xfrm>
          <a:prstGeom prst="rect">
            <a:avLst/>
          </a:prstGeom>
          <a:solidFill>
            <a:srgbClr val="1E2A3A"/>
          </a:solidFill>
          <a:ln w="12700">
            <a:solidFill>
              <a:srgbClr val="2A3F5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4206240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9A05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clean_text_rnn()  для BiLSTM — стоп-слова не видаляємо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892040" y="4507992"/>
            <a:ext cx="38404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if not token.is_punct and not token.is_space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B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Дисбаланс класів — проблема та рішення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8412480" cy="914400"/>
          </a:xfrm>
          <a:prstGeom prst="rect">
            <a:avLst/>
          </a:prstGeom>
          <a:solidFill>
            <a:srgbClr val="FFF0F0"/>
          </a:solidFill>
          <a:ln w="12700">
            <a:solidFill>
              <a:srgbClr val="D94F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850392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4F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Проблема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170432"/>
            <a:ext cx="80467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Rating: </a:t>
            </a:r>
            <a:r>
              <a:rPr lang="en-US" sz="110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56% відгуків мають оцінку 5  (9280 з 14091)  —  модель «навчається» завжди передбачати 5
</a:t>
            </a:r>
            <a:r>
              <a:rPr lang="en-US" sz="1100" b="1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Recommended: </a:t>
            </a:r>
            <a:r>
              <a:rPr lang="en-US" sz="110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82% клас 1  —  модель ігнорує клас 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874520"/>
            <a:ext cx="2743200" cy="3017520"/>
          </a:xfrm>
          <a:prstGeom prst="rect">
            <a:avLst/>
          </a:prstGeom>
          <a:solidFill>
            <a:srgbClr val="F0F4FA"/>
          </a:solidFill>
          <a:ln w="12700">
            <a:solidFill>
              <a:srgbClr val="CBD5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874520"/>
            <a:ext cx="2743200" cy="502920"/>
          </a:xfrm>
          <a:prstGeom prst="rect">
            <a:avLst/>
          </a:prstGeom>
          <a:solidFill>
            <a:srgbClr val="1C2B5E"/>
          </a:solidFill>
          <a:ln w="12700">
            <a:solidFill>
              <a:srgbClr val="1C2B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874520"/>
            <a:ext cx="2743200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 class_weight="balanced"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203704"/>
            <a:ext cx="2743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C9A0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Використано в LogisticRegression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75488" y="2423160"/>
            <a:ext cx="2523744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sklearn автоматично обчислює вагу, обернену до частоти класу. Рідкісний клас штрафується більше.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8912" y="3291840"/>
            <a:ext cx="2596896" cy="1508760"/>
          </a:xfrm>
          <a:prstGeom prst="rect">
            <a:avLst/>
          </a:prstGeom>
          <a:solidFill>
            <a:srgbClr val="1E2A3A"/>
          </a:solidFill>
          <a:ln w="12700">
            <a:solidFill>
              <a:srgbClr val="2A3F5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" y="3337560"/>
            <a:ext cx="2487168" cy="1417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LogisticRegression(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class_weight="balanced")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46120" y="1874520"/>
            <a:ext cx="2743200" cy="3017520"/>
          </a:xfrm>
          <a:prstGeom prst="rect">
            <a:avLst/>
          </a:prstGeom>
          <a:solidFill>
            <a:srgbClr val="F0F4FA"/>
          </a:solidFill>
          <a:ln w="12700">
            <a:solidFill>
              <a:srgbClr val="CBD5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46120" y="1874520"/>
            <a:ext cx="2743200" cy="502920"/>
          </a:xfrm>
          <a:prstGeom prst="rect">
            <a:avLst/>
          </a:prstGeom>
          <a:solidFill>
            <a:srgbClr val="1A6B4A"/>
          </a:solidFill>
          <a:ln w="12700">
            <a:solidFill>
              <a:srgbClr val="1A6B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1874520"/>
            <a:ext cx="2743200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 compute_class_weight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46120" y="2203704"/>
            <a:ext cx="2743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C9A0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Використано в BiLSTM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55848" y="2423160"/>
            <a:ext cx="2523744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Обчислення вагів вручну для передачі в model.fit(class_weight=...)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319272" y="3291840"/>
            <a:ext cx="2596896" cy="1508760"/>
          </a:xfrm>
          <a:prstGeom prst="rect">
            <a:avLst/>
          </a:prstGeom>
          <a:solidFill>
            <a:srgbClr val="1E2A3A"/>
          </a:solidFill>
          <a:ln w="12700">
            <a:solidFill>
              <a:srgbClr val="2A3F5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74136" y="3337560"/>
            <a:ext cx="2487168" cy="1417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cw = compute_class_weight(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"balanced",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classes=np.unique(y),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y=y_train)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126480" y="1874520"/>
            <a:ext cx="2743200" cy="3017520"/>
          </a:xfrm>
          <a:prstGeom prst="rect">
            <a:avLst/>
          </a:prstGeom>
          <a:solidFill>
            <a:srgbClr val="F0F4FA"/>
          </a:solidFill>
          <a:ln w="12700">
            <a:solidFill>
              <a:srgbClr val="CBD5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26480" y="1874520"/>
            <a:ext cx="2743200" cy="502920"/>
          </a:xfrm>
          <a:prstGeom prst="rect">
            <a:avLst/>
          </a:prstGeom>
          <a:solidFill>
            <a:srgbClr val="6B3A1A"/>
          </a:solidFill>
          <a:ln w="12700">
            <a:solidFill>
              <a:srgbClr val="6B3A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26480" y="1874520"/>
            <a:ext cx="2743200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 Підбір порогу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26480" y="2203704"/>
            <a:ext cx="2743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C9A0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Threshold tuning (Recommended)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236208" y="2423160"/>
            <a:ext cx="2523744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За замовчуванням поріг = 0.5. Підбір по F1 на validation дав поріг 0.3.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99632" y="3291840"/>
            <a:ext cx="2596896" cy="1508760"/>
          </a:xfrm>
          <a:prstGeom prst="rect">
            <a:avLst/>
          </a:prstGeom>
          <a:solidFill>
            <a:srgbClr val="1E2A3A"/>
          </a:solidFill>
          <a:ln w="12700">
            <a:solidFill>
              <a:srgbClr val="2A3F5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54496" y="3337560"/>
            <a:ext cx="2487168" cy="1417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Threshold 0.3 → F1: 0.793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Threshold 0.5 → F1: 0.201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pred = (proba &gt;= 0.3).astype(int)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B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ML-підхід: BoW + LogisticRegression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1143000"/>
            <a:ext cx="1508760" cy="777240"/>
          </a:xfrm>
          <a:prstGeom prst="roundRect">
            <a:avLst>
              <a:gd name="adj" fmla="val 7059"/>
            </a:avLst>
          </a:prstGeom>
          <a:solidFill>
            <a:srgbClr val="1C2B5E"/>
          </a:solidFill>
          <a:ln w="12700">
            <a:solidFill>
              <a:srgbClr val="1C2B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143000"/>
            <a:ext cx="15087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Full_Review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(текст)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1828800" y="1531620"/>
            <a:ext cx="228600" cy="0"/>
          </a:xfrm>
          <a:prstGeom prst="line">
            <a:avLst/>
          </a:prstGeom>
          <a:noFill/>
          <a:ln w="25400">
            <a:solidFill>
              <a:srgbClr val="1C2B5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57400" y="1143000"/>
            <a:ext cx="1508760" cy="777240"/>
          </a:xfrm>
          <a:prstGeom prst="roundRect">
            <a:avLst>
              <a:gd name="adj" fmla="val 7059"/>
            </a:avLst>
          </a:prstGeom>
          <a:solidFill>
            <a:srgbClr val="1C2B5E"/>
          </a:solidFill>
          <a:ln w="12700">
            <a:solidFill>
              <a:srgbClr val="1C2B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57400" y="1143000"/>
            <a:ext cx="15087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clean_text()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spaCy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566160" y="1531620"/>
            <a:ext cx="228600" cy="0"/>
          </a:xfrm>
          <a:prstGeom prst="line">
            <a:avLst/>
          </a:prstGeom>
          <a:noFill/>
          <a:ln w="25400">
            <a:solidFill>
              <a:srgbClr val="1C2B5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794760" y="1143000"/>
            <a:ext cx="1508760" cy="777240"/>
          </a:xfrm>
          <a:prstGeom prst="roundRect">
            <a:avLst>
              <a:gd name="adj" fmla="val 7059"/>
            </a:avLst>
          </a:prstGeom>
          <a:solidFill>
            <a:srgbClr val="1C2B5E"/>
          </a:solidFill>
          <a:ln w="12700">
            <a:solidFill>
              <a:srgbClr val="1C2B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94760" y="1143000"/>
            <a:ext cx="15087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CountVectorizer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BoW + bigrams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303520" y="1531620"/>
            <a:ext cx="228600" cy="0"/>
          </a:xfrm>
          <a:prstGeom prst="line">
            <a:avLst/>
          </a:prstGeom>
          <a:noFill/>
          <a:ln w="25400">
            <a:solidFill>
              <a:srgbClr val="1C2B5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532120" y="1143000"/>
            <a:ext cx="1508760" cy="777240"/>
          </a:xfrm>
          <a:prstGeom prst="roundRect">
            <a:avLst>
              <a:gd name="adj" fmla="val 7059"/>
            </a:avLst>
          </a:prstGeom>
          <a:solidFill>
            <a:srgbClr val="1C2B5E"/>
          </a:solidFill>
          <a:ln w="12700">
            <a:solidFill>
              <a:srgbClr val="1C2B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32120" y="1143000"/>
            <a:ext cx="15087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hstack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+числові +кат.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040880" y="1531620"/>
            <a:ext cx="228600" cy="0"/>
          </a:xfrm>
          <a:prstGeom prst="line">
            <a:avLst/>
          </a:prstGeom>
          <a:noFill/>
          <a:ln w="25400">
            <a:solidFill>
              <a:srgbClr val="1C2B5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69480" y="1143000"/>
            <a:ext cx="1508760" cy="777240"/>
          </a:xfrm>
          <a:prstGeom prst="roundRect">
            <a:avLst>
              <a:gd name="adj" fmla="val 7059"/>
            </a:avLst>
          </a:prstGeom>
          <a:solidFill>
            <a:srgbClr val="C9A055"/>
          </a:solidFill>
          <a:ln w="12700">
            <a:solidFill>
              <a:srgbClr val="1C2B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69480" y="1143000"/>
            <a:ext cx="15087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Logistic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Regression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2103120"/>
            <a:ext cx="4114800" cy="2651760"/>
          </a:xfrm>
          <a:prstGeom prst="rect">
            <a:avLst/>
          </a:prstGeom>
          <a:solidFill>
            <a:srgbClr val="F0F4FA"/>
          </a:solidFill>
          <a:ln w="12700">
            <a:solidFill>
              <a:srgbClr val="CBD5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103120"/>
            <a:ext cx="4114800" cy="384048"/>
          </a:xfrm>
          <a:prstGeom prst="rect">
            <a:avLst/>
          </a:prstGeom>
          <a:solidFill>
            <a:srgbClr val="1C2B5E"/>
          </a:solidFill>
          <a:ln w="12700">
            <a:solidFill>
              <a:srgbClr val="1C2B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103120"/>
            <a:ext cx="41148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Чому LogisticRegression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" y="2542032"/>
            <a:ext cx="3840480" cy="2148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Ефективна на розріджених матрицях (BoW дає матрицю 13K×5K)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solver=saga оптимальний для великих sparse матриць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Швидко навчається, добре інтерпретується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Підтримує class_weight="balanced" нативно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5-fold cross-validation без overfitting на малих даних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2103120"/>
            <a:ext cx="4114800" cy="2651760"/>
          </a:xfrm>
          <a:prstGeom prst="rect">
            <a:avLst/>
          </a:prstGeom>
          <a:solidFill>
            <a:srgbClr val="1E2A3A"/>
          </a:solidFill>
          <a:ln w="12700">
            <a:solidFill>
              <a:srgbClr val="2A3F5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00600" y="2121408"/>
            <a:ext cx="3840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05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Модель + крос-валідація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00600" y="2487168"/>
            <a:ext cx="3840480" cy="221284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8D8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bow = CountVectorizer(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max_features=5000,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ngram_range=(1, 2),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min_df=3)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model_rec = LogisticRegression(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max_iter=2000, C=1.0,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solver="saga",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class_weight="balanced")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scores = cross_val_score(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model_rec, X_train,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y_recommended, cv=5,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scoring="f1")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solidFill>
            <a:srgbClr val="E6EDF8"/>
          </a:solidFill>
          <a:ln w="12700">
            <a:solidFill>
              <a:srgbClr val="CBD5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475488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Kaggle best score: </a:t>
            </a:r>
            <a:r>
              <a:rPr lang="en-US" sz="1400" b="1" dirty="0">
                <a:solidFill>
                  <a:srgbClr val="C9A0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0.64029</a:t>
            </a:r>
            <a:r>
              <a:rPr lang="en-US" sz="1200" dirty="0">
                <a:solidFill>
                  <a:srgbClr val="1C2B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|   Recommended F1 (val): ~0.71   |   Rating MAE (val): ~0.57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B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RNN-підхід: Bidirectional LSTM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3474720" cy="1417320"/>
          </a:xfrm>
          <a:prstGeom prst="rect">
            <a:avLst/>
          </a:prstGeom>
          <a:solidFill>
            <a:srgbClr val="E6EDF8"/>
          </a:solidFill>
          <a:ln w="12700">
            <a:solidFill>
              <a:srgbClr val="CBD5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850392"/>
            <a:ext cx="32918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Чому Bidirectional LSTM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1170432"/>
            <a:ext cx="324612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читає текст зліва направо  +  </a:t>
            </a:r>
            <a:r>
              <a:rPr lang="en-US" sz="100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← справа наліво
</a:t>
            </a:r>
            <a:r>
              <a:rPr lang="en-US" sz="100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Кожне слово бачить контекст з обох сторін.
</a:t>
            </a:r>
            <a:r>
              <a:rPr lang="en-US" sz="1000" b="1" dirty="0">
                <a:solidFill>
                  <a:srgbClr val="D94F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«not great»</a:t>
            </a:r>
            <a:r>
              <a:rPr lang="en-US" sz="100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— «not» стоїть до «great», але змінює його зміст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114800" y="804672"/>
            <a:ext cx="1828800" cy="411480"/>
          </a:xfrm>
          <a:prstGeom prst="roundRect">
            <a:avLst>
              <a:gd name="adj" fmla="val 11111"/>
            </a:avLst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0" y="804672"/>
            <a:ext cx="1828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text_input  (150)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029200" y="1216152"/>
            <a:ext cx="0" cy="155448"/>
          </a:xfrm>
          <a:prstGeom prst="line">
            <a:avLst/>
          </a:prstGeom>
          <a:noFill/>
          <a:ln w="19050">
            <a:solidFill>
              <a:srgbClr val="C9A0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0" y="1371600"/>
            <a:ext cx="1828800" cy="411480"/>
          </a:xfrm>
          <a:prstGeom prst="roundRect">
            <a:avLst>
              <a:gd name="adj" fmla="val 11111"/>
            </a:avLst>
          </a:prstGeom>
          <a:solidFill>
            <a:srgbClr val="1C2B5E"/>
          </a:solidFill>
          <a:ln w="12700">
            <a:solidFill>
              <a:srgbClr val="1C2B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0" y="1371600"/>
            <a:ext cx="1828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Embedding  128-dim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029200" y="1783080"/>
            <a:ext cx="0" cy="155448"/>
          </a:xfrm>
          <a:prstGeom prst="line">
            <a:avLst/>
          </a:prstGeom>
          <a:noFill/>
          <a:ln w="19050">
            <a:solidFill>
              <a:srgbClr val="C9A0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0" y="1938528"/>
            <a:ext cx="2286000" cy="411480"/>
          </a:xfrm>
          <a:prstGeom prst="roundRect">
            <a:avLst>
              <a:gd name="adj" fmla="val 11111"/>
            </a:avLst>
          </a:prstGeom>
          <a:solidFill>
            <a:srgbClr val="1A6B4A"/>
          </a:solidFill>
          <a:ln w="12700">
            <a:solidFill>
              <a:srgbClr val="1A6B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0" y="1938528"/>
            <a:ext cx="22860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BiLSTM  64×2  seq=True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257800" y="2350008"/>
            <a:ext cx="0" cy="155448"/>
          </a:xfrm>
          <a:prstGeom prst="line">
            <a:avLst/>
          </a:prstGeom>
          <a:noFill/>
          <a:ln w="19050">
            <a:solidFill>
              <a:srgbClr val="C9A0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0" y="2505456"/>
            <a:ext cx="1828800" cy="411480"/>
          </a:xfrm>
          <a:prstGeom prst="roundRect">
            <a:avLst>
              <a:gd name="adj" fmla="val 11111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0" y="2505456"/>
            <a:ext cx="1828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Dropout 0.3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029200" y="2916936"/>
            <a:ext cx="0" cy="155448"/>
          </a:xfrm>
          <a:prstGeom prst="line">
            <a:avLst/>
          </a:prstGeom>
          <a:noFill/>
          <a:ln w="19050">
            <a:solidFill>
              <a:srgbClr val="C9A0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14800" y="3072384"/>
            <a:ext cx="2286000" cy="411480"/>
          </a:xfrm>
          <a:prstGeom prst="roundRect">
            <a:avLst>
              <a:gd name="adj" fmla="val 11111"/>
            </a:avLst>
          </a:prstGeom>
          <a:solidFill>
            <a:srgbClr val="1A6B4A"/>
          </a:solidFill>
          <a:ln w="12700">
            <a:solidFill>
              <a:srgbClr val="1A6B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0" y="3072384"/>
            <a:ext cx="22860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BiLSTM  32×2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257800" y="3483864"/>
            <a:ext cx="0" cy="155448"/>
          </a:xfrm>
          <a:prstGeom prst="line">
            <a:avLst/>
          </a:prstGeom>
          <a:noFill/>
          <a:ln w="19050">
            <a:solidFill>
              <a:srgbClr val="C9A0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0" y="3639312"/>
            <a:ext cx="1828800" cy="411480"/>
          </a:xfrm>
          <a:prstGeom prst="roundRect">
            <a:avLst>
              <a:gd name="adj" fmla="val 11111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0" y="3593592"/>
            <a:ext cx="1828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Dropout 0.3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114800" y="4150995"/>
            <a:ext cx="2286000" cy="411480"/>
          </a:xfrm>
          <a:prstGeom prst="roundRect">
            <a:avLst>
              <a:gd name="adj" fmla="val 11111"/>
            </a:avLst>
          </a:prstGeom>
          <a:solidFill>
            <a:srgbClr val="6B3A1A"/>
          </a:solidFill>
          <a:ln w="12700">
            <a:solidFill>
              <a:srgbClr val="6B3A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0" y="4157980"/>
            <a:ext cx="22860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extra_input (5 ознак)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250815" y="4563110"/>
            <a:ext cx="7620" cy="283210"/>
          </a:xfrm>
          <a:prstGeom prst="line">
            <a:avLst/>
          </a:prstGeom>
          <a:noFill/>
          <a:ln w="19050">
            <a:solidFill>
              <a:srgbClr val="C9A0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14800" y="4708525"/>
            <a:ext cx="2286000" cy="411480"/>
          </a:xfrm>
          <a:prstGeom prst="roundRect">
            <a:avLst>
              <a:gd name="adj" fmla="val 11111"/>
            </a:avLst>
          </a:prstGeom>
          <a:solidFill>
            <a:srgbClr val="8B5E3C"/>
          </a:solidFill>
          <a:ln w="12700">
            <a:solidFill>
              <a:srgbClr val="8B5E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0" y="4740275"/>
            <a:ext cx="2286000" cy="37973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Concatenate → Dense 64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675120" y="822960"/>
            <a:ext cx="2194560" cy="640080"/>
          </a:xfrm>
          <a:prstGeom prst="roundRect">
            <a:avLst>
              <a:gd name="adj" fmla="val 7143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75120" y="822960"/>
            <a:ext cx="21945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Dense(1, sigmoid)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binary_crossentropy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675120" y="1645920"/>
            <a:ext cx="2194560" cy="640080"/>
          </a:xfrm>
          <a:prstGeom prst="roundRect">
            <a:avLst>
              <a:gd name="adj" fmla="val 7143"/>
            </a:avLst>
          </a:prstGeom>
          <a:solidFill>
            <a:srgbClr val="1C2B5E"/>
          </a:solidFill>
          <a:ln w="12700">
            <a:solidFill>
              <a:srgbClr val="1C2B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75120" y="1645920"/>
            <a:ext cx="21945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Dense(5, softmax)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sparse_categ_CE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675120" y="2286000"/>
            <a:ext cx="21945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8B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Recommended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675120" y="2487168"/>
            <a:ext cx="21945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C2B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Rating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65760" y="2377440"/>
            <a:ext cx="3474720" cy="2606040"/>
          </a:xfrm>
          <a:prstGeom prst="rect">
            <a:avLst/>
          </a:prstGeom>
          <a:solidFill>
            <a:srgbClr val="1E2A3A"/>
          </a:solidFill>
          <a:ln w="12700">
            <a:solidFill>
              <a:srgbClr val="2A3F5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02920" y="2404872"/>
            <a:ext cx="3200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05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Параметри навчання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02920" y="2724912"/>
            <a:ext cx="3246120" cy="2148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8D8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MAX_WORDS = 20000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MAX_LEN   = 108   # 95-й перцентиль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output_dim = 256  # вектор слова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batch_size = 64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epochs = 20       # EarlyStopping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Adam(lr=1e-3)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EarlyStopping(patience=3)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ReduceLROnPlateau(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factor=0.5, patience=2)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2B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Чому BiLSTM (0.61) гірше ніж LR (0.64)?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41248"/>
            <a:ext cx="4206240" cy="2011680"/>
          </a:xfrm>
          <a:prstGeom prst="rect">
            <a:avLst/>
          </a:prstGeom>
          <a:solidFill>
            <a:srgbClr val="F0F4FA"/>
          </a:solidFill>
          <a:ln w="12700">
            <a:solidFill>
              <a:srgbClr val="CBD5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841248"/>
            <a:ext cx="347472" cy="2011680"/>
          </a:xfrm>
          <a:prstGeom prst="rect">
            <a:avLst/>
          </a:prstGeom>
          <a:solidFill>
            <a:srgbClr val="D94F4F"/>
          </a:solidFill>
          <a:ln w="12700">
            <a:solidFill>
              <a:srgbClr val="D94F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41248"/>
            <a:ext cx="34747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896112"/>
            <a:ext cx="3749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4F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Малий датасет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1207008"/>
            <a:ext cx="2331720" cy="1554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Для BoW використано весь train. Для BiLSTM — спочатку відрізали 20% на val для BoW, потім ще 20% для BiLSTM. BiLSTM навчався лише на ~64% від оригінальних даних (~8 700 рядків). LSTM з ~2M параметрів на таких даних перенавчається.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172968" y="914400"/>
            <a:ext cx="1298448" cy="1874520"/>
          </a:xfrm>
          <a:prstGeom prst="rect">
            <a:avLst/>
          </a:prstGeom>
          <a:solidFill>
            <a:srgbClr val="1E2A3A"/>
          </a:solidFill>
          <a:ln w="12700">
            <a:solidFill>
              <a:srgbClr val="2A3F5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18688" y="932688"/>
            <a:ext cx="1207008" cy="1783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train_test_split двічі: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1. df_train, df_val (80/20)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2. X_text_train, X_text_val (80/20)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→ BiLSTM бачить 0.8 × 0.8 = 64%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800600" y="841248"/>
            <a:ext cx="4206240" cy="2011680"/>
          </a:xfrm>
          <a:prstGeom prst="rect">
            <a:avLst/>
          </a:prstGeom>
          <a:solidFill>
            <a:srgbClr val="F0F4FA"/>
          </a:solidFill>
          <a:ln w="12700">
            <a:solidFill>
              <a:srgbClr val="CBD5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841248"/>
            <a:ext cx="347472" cy="2011680"/>
          </a:xfrm>
          <a:prstGeom prst="rect">
            <a:avLst/>
          </a:prstGeom>
          <a:solidFill>
            <a:srgbClr val="1A6B4A"/>
          </a:solidFill>
          <a:ln w="12700">
            <a:solidFill>
              <a:srgbClr val="1A6B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841248"/>
            <a:ext cx="34747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212080" y="896112"/>
            <a:ext cx="3749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6B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Embedding навчається з нуля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12080" y="1207008"/>
            <a:ext cx="2331720" cy="1554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LogisticRegression отримала готові BoW-ознаки. BiLSTM ініціалізував Embedding випадково і мав навчити ~2.56M параметрів на малих даних. GloVe pretrained embeddings підняли б якість.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607808" y="914400"/>
            <a:ext cx="1298448" cy="1874520"/>
          </a:xfrm>
          <a:prstGeom prst="rect">
            <a:avLst/>
          </a:prstGeom>
          <a:solidFill>
            <a:srgbClr val="1E2A3A"/>
          </a:solidFill>
          <a:ln w="12700">
            <a:solidFill>
              <a:srgbClr val="2A3F5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53528" y="932688"/>
            <a:ext cx="1207008" cy="1783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Поточний підхід: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Embedding(MAX_WORDS+1, 256)</a:t>
            </a:r>
            <a:endParaRPr lang="en-US" sz="750" dirty="0"/>
          </a:p>
          <a:p>
            <a:pPr marL="0" indent="0">
              <a:buNone/>
            </a:pP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Кращий підхід: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Embedding(...,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weights=[embedding_matrix],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trainable=False)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65760" y="2990088"/>
            <a:ext cx="4206240" cy="2011680"/>
          </a:xfrm>
          <a:prstGeom prst="rect">
            <a:avLst/>
          </a:prstGeom>
          <a:solidFill>
            <a:srgbClr val="F0F4FA"/>
          </a:solidFill>
          <a:ln w="12700">
            <a:solidFill>
              <a:srgbClr val="CBD5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990088"/>
            <a:ext cx="347472" cy="201168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990088"/>
            <a:ext cx="34747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77240" y="3044952"/>
            <a:ext cx="3749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86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Threshold bug (виправлено)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77240" y="3355848"/>
            <a:ext cx="2331720" cy="1554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У попередній версії поріг для Recommended був 0.5, хоча підбір по F1 дав 0.3. Модель передбачала майже завжди клас 0 — F1=0.201 замість 0.793. У фінальній версії виправлено.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172968" y="3063240"/>
            <a:ext cx="1298448" cy="1874520"/>
          </a:xfrm>
          <a:prstGeom prst="rect">
            <a:avLst/>
          </a:prstGeom>
          <a:solidFill>
            <a:srgbClr val="1E2A3A"/>
          </a:solidFill>
          <a:ln w="12700">
            <a:solidFill>
              <a:srgbClr val="2A3F5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18688" y="3081528"/>
            <a:ext cx="1207008" cy="1783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F1 на validation: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Threshold 0.3 → F1: 0.793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Threshold 0.5 → F1: 0.201</a:t>
            </a:r>
            <a:endParaRPr lang="en-US" sz="750" dirty="0"/>
          </a:p>
          <a:p>
            <a:pPr marL="0" indent="0">
              <a:buNone/>
            </a:pP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Виправлення: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pred = (proba &gt;= 0.3).astype(int)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800600" y="2990088"/>
            <a:ext cx="4206240" cy="2011680"/>
          </a:xfrm>
          <a:prstGeom prst="rect">
            <a:avLst/>
          </a:prstGeom>
          <a:solidFill>
            <a:srgbClr val="F0F4FA"/>
          </a:solidFill>
          <a:ln w="12700">
            <a:solidFill>
              <a:srgbClr val="CBD5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00600" y="2990088"/>
            <a:ext cx="347472" cy="20116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2990088"/>
            <a:ext cx="34747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212080" y="3044952"/>
            <a:ext cx="3749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Callbacks sharing (виправлено)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212080" y="3355848"/>
            <a:ext cx="2331720" cy="1554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Перша версія передавала один список callbacks двом моделям. EarlyStopping зберігав внутрішній стан після model_lstm_rec.fit(), і model_lstm_rat отримував вже «спрацьований» callback.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607808" y="3063240"/>
            <a:ext cx="1298448" cy="1874520"/>
          </a:xfrm>
          <a:prstGeom prst="rect">
            <a:avLst/>
          </a:prstGeom>
          <a:solidFill>
            <a:srgbClr val="1E2A3A"/>
          </a:solidFill>
          <a:ln w="12700">
            <a:solidFill>
              <a:srgbClr val="2A3F5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53528" y="3081528"/>
            <a:ext cx="1207008" cy="1783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Неправильно: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callbacks = [EarlyStopping(...)]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model_rec.fit(..., callbacks)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model_rat.fit(..., callbacks)</a:t>
            </a:r>
            <a:endParaRPr lang="en-US" sz="750" dirty="0"/>
          </a:p>
          <a:p>
            <a:pPr marL="0" indent="0">
              <a:buNone/>
            </a:pP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Правильно: функція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def get_callbacks(): return [...]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D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C9A055"/>
          </a:solidFill>
          <a:ln w="12700">
            <a:solidFill>
              <a:srgbClr val="C9A0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Результати та висновки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2560320" cy="13716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C9A0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25603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9A0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BoW + LR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9A0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Best Score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298448"/>
            <a:ext cx="25603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9A0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0.640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1892808"/>
            <a:ext cx="2560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BB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91840" y="868680"/>
            <a:ext cx="2560320" cy="13716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7EC8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914400"/>
            <a:ext cx="25603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EC8E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BiLSTM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7EC8E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Latest Score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91840" y="1298448"/>
            <a:ext cx="25603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7EC8E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0.611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291840" y="1892808"/>
            <a:ext cx="2560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BB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v10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126480" y="868680"/>
            <a:ext cx="2560320" cy="13716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914400"/>
            <a:ext cx="25603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E8B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Median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E8B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Target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126480" y="1298448"/>
            <a:ext cx="25603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E8B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≥ med</a:t>
            </a:r>
            <a:endParaRPr lang="en-US" sz="3000" dirty="0"/>
          </a:p>
          <a:p>
            <a:pPr marL="0" indent="0" algn="ctr">
              <a:buNone/>
            </a:pPr>
            <a:r>
              <a:rPr lang="en-US" sz="3000" b="1" dirty="0">
                <a:solidFill>
                  <a:srgbClr val="2E8B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−0.05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126480" y="1892808"/>
            <a:ext cx="2560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BB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вимога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2331720"/>
            <a:ext cx="8412480" cy="251460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3A4E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423160"/>
            <a:ext cx="8046720" cy="23317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LogisticRegression + BoW — сильна базова модель для текстових задач на невеликих датасетах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BiLSTM потребує більше даних та pretrained embeddings (GloVe/fastText) для перевершення класичного ML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Дисбаланс класів критично впливає на результат — class_weight та підбір порогу є обов'язковими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Порядок слів важливий для RNN: стоп-слова не видаляються на відміну від BoW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Ансамбль BoW + BiLSTM може перевершити кожну модель окремо завдяки кореляції 0.79 між задачами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6551</Words>
  <Application>WPS Presentation</Application>
  <PresentationFormat>On-screen Show (16:9)</PresentationFormat>
  <Paragraphs>338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3" baseType="lpstr">
      <vt:lpstr>Arial</vt:lpstr>
      <vt:lpstr>SimSun</vt:lpstr>
      <vt:lpstr>Wingdings</vt:lpstr>
      <vt:lpstr>Calibri</vt:lpstr>
      <vt:lpstr>Calibri</vt:lpstr>
      <vt:lpstr>Calibri</vt:lpstr>
      <vt:lpstr>Arial</vt:lpstr>
      <vt:lpstr>Consolas</vt:lpstr>
      <vt:lpstr>Consolas</vt:lpstr>
      <vt:lpstr>Consolas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Fashion Product Reviews — NLP Project</dc:title>
  <dc:creator>PptxGenJS</dc:creator>
  <dc:subject>PptxGenJS Presentation</dc:subject>
  <cp:lastModifiedBy>Iryna</cp:lastModifiedBy>
  <cp:revision>2</cp:revision>
  <dcterms:created xsi:type="dcterms:W3CDTF">2026-05-10T20:34:00Z</dcterms:created>
  <dcterms:modified xsi:type="dcterms:W3CDTF">2026-05-10T20:56:16Z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B2A86CD1245A45CA8AF0FC27A2F68D04_12</vt:lpwstr>
  </property>
  <property fmtid="{D5CDD505-2E9C-101B-9397-08002B2CF9AE}" pid="3" name="KSOProductBuildVer">
    <vt:lpwstr>1033-12.2.0.23202</vt:lpwstr>
  </property>
</Properties>
</file>