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5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2B5E"/>
                </a:solidFill>
                <a:latin typeface="Arial"/>
              </a:rPr>
              <a:t>Розподіл Rating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Кількість</c:v>
                </c:pt>
              </c:strCache>
            </c:strRef>
          </c:tx>
          <c:spPr>
            <a:solidFill>
              <a:srgbClr val="1C2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2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2B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2B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2B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A05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578</c:v>
                </c:pt>
                <c:pt idx="1">
                  <c:v>374</c:v>
                </c:pt>
                <c:pt idx="2">
                  <c:v>854</c:v>
                </c:pt>
                <c:pt idx="3">
                  <c:v>2204</c:v>
                </c:pt>
                <c:pt idx="4">
                  <c:v>9280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5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2B5E"/>
                </a:solidFill>
                <a:latin typeface="Arial"/>
              </a:rPr>
              <a:t>Розподіл Recommended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Recommended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B57"/>
              </a:solidFill>
              <a:effectLst/>
            </c:spPr>
          </c:dPt>
          <c:dPt>
            <c:idx val="1"/>
            <c:bubble3D val="0"/>
            <c:spPr>
              <a:solidFill>
                <a:srgbClr val="D94F4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Рекомендує (1)</c:v>
                </c:pt>
                <c:pt idx="1">
                  <c:v>Не рекомендує (0)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82</c:v>
                </c:pt>
                <c:pt idx="1">
                  <c:v>18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0F4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Product Reviews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Analysis &amp; Prediction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487168"/>
            <a:ext cx="5943600" cy="36576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Competition  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DS 3+4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Задачі: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передбачення </a:t>
            </a:r>
            <a:pPr indent="0" marL="0">
              <a:buNone/>
            </a:pPr>
            <a:r>
              <a:rPr lang="en-US" sz="14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(1–5)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та  </a:t>
            </a:r>
            <a:pPr indent="0" marL="0">
              <a:buNone/>
            </a:pPr>
            <a:r>
              <a:rPr lang="en-US" sz="14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(0/1)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Моделі:  </a:t>
            </a:r>
            <a:pPr indent="0" marL="0">
              <a:buNone/>
            </a:pPr>
            <a:r>
              <a:rPr lang="en-US" sz="14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 + BoW     Bidirectional LSTM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Ірина Косенко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що проект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743200" cy="34747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2743200" cy="50292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24688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Інтернет-магазини одягу отримують тисячі текстових відгуків. Аналіз цих відгуків дозволяє зрозуміти, які товари задовольняють покупців, а де є проблеми.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743200" cy="34747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914400"/>
            <a:ext cx="2743200" cy="50292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1508760"/>
            <a:ext cx="24688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основі тексту відгуку та метаданих (вік, категорія) передбачити: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Rating — числова оцінка 1–5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Recommended — чи рекомендує покупець товар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743200" cy="34747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914400"/>
            <a:ext cx="2743200" cy="502920"/>
          </a:xfrm>
          <a:prstGeom prst="rect">
            <a:avLst/>
          </a:prstGeom>
          <a:solidFill>
            <a:srgbClr val="6B3A1A"/>
          </a:solidFill>
          <a:ln w="12700">
            <a:solidFill>
              <a:srgbClr val="6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Підхід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1508760"/>
            <a:ext cx="24688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очистка тексту (spaCy) → класичні NLP-техніки → BoW + LogisticRegression → Bidirectional LSTM → Kaggle submission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E6EDF8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Вимоги: EDA  •  Класичні NLP-техніки  •  BoW модель  •  RNN модель  •  Leaderboard score ≥ median − 0.05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Ключові висновки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920240" cy="105156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8412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14 091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990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рядків у датасеті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822960"/>
            <a:ext cx="1920240" cy="105156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14600" y="8412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514600" y="13990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=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1920240" cy="105156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8412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63440" y="13990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= 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12280" y="822960"/>
            <a:ext cx="1920240" cy="105156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8412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12280" y="13990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кореляція Rating ↔ Recommended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65760" y="2011680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Chart 1" descr=""/>
          <p:cNvGraphicFramePr/>
          <p:nvPr/>
        </p:nvGraphicFramePr>
        <p:xfrm>
          <a:off x="4663440" y="2011680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суттєво незбалансований — необхідна спеціальна обробка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Інструменти та технології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74320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109728" cy="18288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78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 даних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завантаження, очистка, препроцесінг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матричні операції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sparse — розріджені матриці для BoW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74320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914400"/>
            <a:ext cx="109728" cy="18288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978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32588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en_core_web_sm — токенізація, лематизація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Tokenizer — числова токенізація для RNN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pad_sequences — вирівнювання довжини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74320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914400"/>
            <a:ext cx="109728" cy="18288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978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sklearn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32588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 (solver=saga)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CountVectorizer — BoW + bigrams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OrdinalEncoder, StandardScaler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compute_class_weight, cross_val_score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274320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80360"/>
            <a:ext cx="109728" cy="18288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Embedding, Dense, Dropout, Concatenate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EarlyStopping, ReduceLROnPlateau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2880360"/>
            <a:ext cx="274320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2880360"/>
            <a:ext cx="109728" cy="18288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Середовище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29184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Notebooks (GPU)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880360"/>
            <a:ext cx="274320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880360"/>
            <a:ext cx="109728" cy="18288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29184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— Recommended (бінарна)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Rating (мультикласова)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— додаткова для LSTM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Класичні NLP-техніки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206240" cy="658368"/>
          </a:xfrm>
          <a:prstGeom prst="rect">
            <a:avLst/>
          </a:prstGeom>
          <a:solidFill>
            <a:srgbClr val="E6EDF8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91440" cy="658368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05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розбиття тексту на слова/токени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18488"/>
            <a:ext cx="4206240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18488"/>
            <a:ext cx="91440" cy="658368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55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приведення до нижнього регістру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68296"/>
            <a:ext cx="4206240" cy="658368"/>
          </a:xfrm>
          <a:prstGeom prst="rect">
            <a:avLst/>
          </a:prstGeom>
          <a:solidFill>
            <a:srgbClr val="E6EDF8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68296"/>
            <a:ext cx="91440" cy="658368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04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6883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love/loved/loving → love  (обрано замість стемінгу, бо відгуки насичені прикметниками)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18104"/>
            <a:ext cx="4206240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18104"/>
            <a:ext cx="91440" cy="658368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54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4381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видаляємо лише для BoW. Для RNN зберігаємо — "not great" ≠ "great"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67912"/>
            <a:ext cx="4206240" cy="658368"/>
          </a:xfrm>
          <a:prstGeom prst="rect">
            <a:avLst/>
          </a:prstGeom>
          <a:solidFill>
            <a:srgbClr val="E6EDF8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867912"/>
            <a:ext cx="91440" cy="658368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04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N-grams (1,2)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1879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 фіксують стійкі вирази: «runs small», «true size»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4114800" cy="320040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868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clean_text()  для BoW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1298448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clean_text(text):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 = nlp(str(text))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 =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token.lemma_.lower()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token in doc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token.is_stop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 not token.is_punct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 not token.is_space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 len(token.lemma_) &gt;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 ".join(tokens)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4187952"/>
            <a:ext cx="4114800" cy="77724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clean_text_rnn()  для BiLSTM — стоп-слова не видаляємо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4507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token.is_punct and not token.is_space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Дисбаланс класів — проблема та рішення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solidFill>
            <a:srgbClr val="FFF0F0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50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відгуків мають оцінку 5  (9280 з 14091)  —  модель «навчається» завжди передбачати 5
</a:t>
            </a:r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клас 1  —  модель ігнорує клас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743200" cy="301752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2743200" cy="50292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class_weight="balanced"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037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Використано в LogisticRegression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242316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автоматично обчислює вагу, обернену до частоти класу. Рідкісний клас штрафується більше.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3291840"/>
            <a:ext cx="2596896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3337560"/>
            <a:ext cx="24871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LogisticRegression(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class_weight="balanced")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874520"/>
            <a:ext cx="2743200" cy="301752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874520"/>
            <a:ext cx="2743200" cy="50292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87452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compute_class_weight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22037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Використано в BiLSTM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5848" y="242316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Обчислення вагів вручну для передачі в model.fit(class_weight=...)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19272" y="3291840"/>
            <a:ext cx="2596896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3337560"/>
            <a:ext cx="24871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 = compute_class_weight(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"balanced",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classes=np.unique(y),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y=y_train)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874520"/>
            <a:ext cx="2743200" cy="301752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solidFill>
            <a:srgbClr val="6B3A1A"/>
          </a:solidFill>
          <a:ln w="12700">
            <a:solidFill>
              <a:srgbClr val="6B3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87452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Підбір порогу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2037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(Recommended)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36208" y="242316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замовчуванням поріг = 0.5. Підбір по F1 на validation дав поріг 0.3.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99632" y="3291840"/>
            <a:ext cx="2596896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3337560"/>
            <a:ext cx="24871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Threshold 0.3 → F1: 0.793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Threshold 0.5 → F1: 0.201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= (proba &gt;= 0.3).astype(int)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ML-підхід: BoW + LogisticRegression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1430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430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Full_Review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(текст)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828800" y="1531620"/>
            <a:ext cx="228600" cy="0"/>
          </a:xfrm>
          <a:prstGeom prst="line">
            <a:avLst/>
          </a:prstGeom>
          <a:noFill/>
          <a:ln w="25400">
            <a:solidFill>
              <a:srgbClr val="1C2B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11430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1430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66160" y="1531620"/>
            <a:ext cx="228600" cy="0"/>
          </a:xfrm>
          <a:prstGeom prst="line">
            <a:avLst/>
          </a:prstGeom>
          <a:noFill/>
          <a:ln w="25400">
            <a:solidFill>
              <a:srgbClr val="1C2B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4760" y="11430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1430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CountVectorizer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 + bigrams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0" y="1531620"/>
            <a:ext cx="228600" cy="0"/>
          </a:xfrm>
          <a:prstGeom prst="line">
            <a:avLst/>
          </a:prstGeom>
          <a:noFill/>
          <a:ln w="25400">
            <a:solidFill>
              <a:srgbClr val="1C2B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11430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1430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hstack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+числові +кат.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40880" y="1531620"/>
            <a:ext cx="228600" cy="0"/>
          </a:xfrm>
          <a:prstGeom prst="line">
            <a:avLst/>
          </a:prstGeom>
          <a:noFill/>
          <a:ln w="25400">
            <a:solidFill>
              <a:srgbClr val="1C2B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11430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C9A055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1430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4114800" cy="265176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03120"/>
            <a:ext cx="4114800" cy="384048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03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LogisticRegression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2542032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Ефективна на розріджених матрицях (BoW дає матрицю 13K×5K)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solver=saga оптимальний для великих sparse матриць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Швидко навчається, добре інтерпретується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Підтримує class_weight="balanced" нативно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без overfitting на малих даних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103120"/>
            <a:ext cx="4114800" cy="265176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2121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Модель + крос-валідація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487168"/>
            <a:ext cx="384048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bow = CountVectorizer(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max_features=5000,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ngram_range=(1, 2),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min_df=3)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model_rec = LogisticRegression(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max_iter=2000, C=1.0,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solver="saga",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class_weight="balanced")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cross_val_score(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model_rec, X_train,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y_recommended, cv=5,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scoring="f1")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E6EDF8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best score: </a:t>
            </a:r>
            <a:pPr indent="0" marL="0">
              <a:buNone/>
            </a:pPr>
            <a:r>
              <a:rPr lang="en-US" sz="14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0.64029</a:t>
            </a:r>
            <a:pPr indent="0" marL="0">
              <a:buNone/>
            </a:pPr>
            <a:r>
              <a:rPr lang="en-US" sz="12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Recommended F1 (val): ~0.71   |   Rating MAE (val): ~0.57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RNN-підхід: Bidirectional LSTM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474720" cy="1417320"/>
          </a:xfrm>
          <a:prstGeom prst="rect">
            <a:avLst/>
          </a:prstGeom>
          <a:solidFill>
            <a:srgbClr val="E6EDF8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503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Bidirectional LSTM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читає текст зліва направо  + 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справа наліво
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Кожне слово бачить контекст з обох сторін.
</a:t>
            </a:r>
            <a:pPr indent="0" marL="0">
              <a:buNone/>
            </a:pPr>
            <a:r>
              <a:rPr lang="en-US" sz="10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«not great»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«not» стоїть до «great», але змінює його зміст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0" y="804672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8046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text_input  (150)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0" y="1216152"/>
            <a:ext cx="0" cy="155448"/>
          </a:xfrm>
          <a:prstGeom prst="line">
            <a:avLst/>
          </a:prstGeom>
          <a:noFill/>
          <a:ln w="19050">
            <a:solidFill>
              <a:srgbClr val="C9A0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37160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 128-dim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0" y="1783080"/>
            <a:ext cx="0" cy="155448"/>
          </a:xfrm>
          <a:prstGeom prst="line">
            <a:avLst/>
          </a:prstGeom>
          <a:noFill/>
          <a:ln w="19050">
            <a:solidFill>
              <a:srgbClr val="C9A0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938528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9385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BiLSTM  64×2  seq=True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57800" y="2350008"/>
            <a:ext cx="0" cy="155448"/>
          </a:xfrm>
          <a:prstGeom prst="line">
            <a:avLst/>
          </a:prstGeom>
          <a:noFill/>
          <a:ln w="19050">
            <a:solidFill>
              <a:srgbClr val="C9A0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2505456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50545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 0.3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2916936"/>
            <a:ext cx="0" cy="155448"/>
          </a:xfrm>
          <a:prstGeom prst="line">
            <a:avLst/>
          </a:prstGeom>
          <a:noFill/>
          <a:ln w="19050">
            <a:solidFill>
              <a:srgbClr val="C9A0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3072384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07238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BiLSTM  32×2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57800" y="3483864"/>
            <a:ext cx="0" cy="155448"/>
          </a:xfrm>
          <a:prstGeom prst="line">
            <a:avLst/>
          </a:prstGeom>
          <a:noFill/>
          <a:ln w="19050">
            <a:solidFill>
              <a:srgbClr val="C9A0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3639312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36393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 0.3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0" y="425196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6B3A1A"/>
          </a:solidFill>
          <a:ln w="12700">
            <a:solidFill>
              <a:srgbClr val="6B3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extra_input (5 ознак)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57800" y="4663440"/>
            <a:ext cx="0" cy="182880"/>
          </a:xfrm>
          <a:prstGeom prst="line">
            <a:avLst/>
          </a:prstGeom>
          <a:noFill/>
          <a:ln w="19050">
            <a:solidFill>
              <a:srgbClr val="C9A0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484632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4846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Concatenate → Dense 64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75120" y="822960"/>
            <a:ext cx="2194560" cy="640080"/>
          </a:xfrm>
          <a:prstGeom prst="roundRect">
            <a:avLst>
              <a:gd name="adj" fmla="val 714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822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Dense(1, sigmoid)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binary_crossentropy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75120" y="1645920"/>
            <a:ext cx="2194560" cy="640080"/>
          </a:xfrm>
          <a:prstGeom prst="roundRect">
            <a:avLst>
              <a:gd name="adj" fmla="val 7143"/>
            </a:avLst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645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Dense(5, softmax)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sparse_categ_CE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75120" y="2286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75120" y="24871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377440"/>
            <a:ext cx="3474720" cy="260604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2404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Параметри навчання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2724912"/>
            <a:ext cx="32461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MAX_WORDS = 20000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MAX_LEN   = 108   # 95-й перцентиль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output_dim = 256  # вектор слова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batch_size = 64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 = 20       # EarlyStopping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Adam(lr=1e-3)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EarlyStopping(patience=3)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ReduceLROnPlateau(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factor=0.5, patience=2)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Spearman's Rank Correlation — метрика змагання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023360" cy="1508760"/>
          </a:xfrm>
          <a:prstGeom prst="rect">
            <a:avLst/>
          </a:prstGeom>
          <a:solidFill>
            <a:srgbClr val="E6EDF8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50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таке коефіцієнт Спірмена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Вимірює монотонний зв'язок між двома змінними — тобто наскільки добре одна змінна передбачає іншу, не вимагаючи лінійності. Працює з рангами, а не з сирими значеннями. Стійкий до викидів.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4023360" cy="7772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7249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 =  1  −  6Σd²  /  n(n² − 1)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2186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різниця рангів кожного спостереження,   n — кількість спостережень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639312"/>
            <a:ext cx="402336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393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+1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36393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ідеальний збіг рангів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4023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69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 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4069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монотонного зв'язку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498848"/>
            <a:ext cx="402336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988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−1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44988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повністю зворотній зв'язок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919472"/>
            <a:ext cx="4023360" cy="109728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822960"/>
            <a:ext cx="4206240" cy="1234440"/>
          </a:xfrm>
          <a:prstGeom prst="rect">
            <a:avLst/>
          </a:prstGeom>
          <a:solidFill>
            <a:srgbClr val="FFF8EC"/>
          </a:solidFill>
          <a:ln w="12700">
            <a:solidFill>
              <a:srgbClr val="E8D5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822960"/>
            <a:ext cx="109728" cy="123444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8503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Spearman — метрика цього змагання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1152144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— ординальна шкала (різниця між 1 і 2 ≠ різниці між 4 і 5). Pearson припускає рівні інтервали. Spearman оперує лише порядком — що ідеально для Rating та бінарного Recommended.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148840"/>
            <a:ext cx="4206240" cy="18745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2176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Обчислення метрики (validation)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2487168"/>
            <a:ext cx="3977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scipy.stats import spearmanr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pred_rec = model_lstm_rec\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.predict([X_val, X_extra_val])\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.flatten().round()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pred_rat = model_lstm_rat\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.predict([X_val, X_extra_val])\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.argmax(axis=1) + 1  # 0–4 → 1–5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sp_rec = spearmanr(y_rec_val, pred_rec).statistic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sp_rat = spearmanr(y_rat_val, pred_rat).statistic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mean_sp = (sp_rec + sp_rat) / 2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572000" y="4114800"/>
            <a:ext cx="1325880" cy="9144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4133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0.620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72000" y="459028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6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89320" y="4114800"/>
            <a:ext cx="1325880" cy="9144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89320" y="4133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0.711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989320" y="459028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6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06640" y="4114800"/>
            <a:ext cx="1325880" cy="9144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06640" y="4133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06640" y="459028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Spearman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(фінальна)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0" y="491947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Spearman = фінальна метрика Kaggle leaderboard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BiLSTM (0.61) гірше ніж LR (0.64)?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420624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41248"/>
            <a:ext cx="347472" cy="201168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896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Малий датасет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20700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BoW використано весь train. Для BiLSTM — спочатку відрізали 20% на val для BoW, потім ще 20% для BiLSTM. BiLSTM навчався лише на ~64% від оригінальних даних (~8 700 рядків). LSTM з ~2M параметрів на таких даних перенавчається.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914400"/>
            <a:ext cx="1298448" cy="18745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932688"/>
            <a:ext cx="120700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train_test_split двічі: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df_train, df_val (80/20)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X_text_train, X_text_val (80/20)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BiLSTM бачить 0.8 × 0.8 = 64%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800600" y="841248"/>
            <a:ext cx="420624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841248"/>
            <a:ext cx="347472" cy="201168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841248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896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навчається з нуля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20700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 отримала готові BoW-ознаки. BiLSTM ініціалізував Embedding випадково і мав навчити ~2.56M параметрів на малих даних. GloVe pretrained embeddings підняли б якість.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07808" y="914400"/>
            <a:ext cx="1298448" cy="18745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53528" y="932688"/>
            <a:ext cx="120700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Поточний підхід: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Embedding(MAX_WORDS+1, 256)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Кращий підхід: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Embedding(...,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weights=[embedding_matrix],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trainable=False)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2990088"/>
            <a:ext cx="420624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90088"/>
            <a:ext cx="347472" cy="20116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90088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30449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bug (виправлено)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35584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попередній версії поріг для Recommended був 0.5, хоча підбір по F1 дав 0.3. Модель передбачала майже завжди клас 0 — F1=0.201 замість 0.793. У фінальній версії виправлено.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72968" y="3063240"/>
            <a:ext cx="1298448" cy="18745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8688" y="3081528"/>
            <a:ext cx="120700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F1 на validation: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Threshold 0.3 → F1: 0.793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Threshold 0.5 → F1: 0.201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Виправлення: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= (proba &gt;= 0.3).astype(int)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00600" y="2990088"/>
            <a:ext cx="420624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990088"/>
            <a:ext cx="347472" cy="2011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990088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30449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sharing (виправлено)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335584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версія передавала один список callbacks двом моделям. EarlyStopping зберігав внутрішній стан після model_lstm_rec.fit(), і model_lstm_rat отримував вже «спрацьований» callback.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07808" y="3063240"/>
            <a:ext cx="1298448" cy="18745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3081528"/>
            <a:ext cx="120700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Неправильно: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callbacks = [EarlyStopping(...)]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model_rec.fit(..., callbacks)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model_rat.fit(..., callbacks)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Правильно: функція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get_callbacks(): return [...]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та висновки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56032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 + LR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892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868680"/>
            <a:ext cx="256032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914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2984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1892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56032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914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2984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med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1892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вимога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8412480" cy="25146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A4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23160"/>
            <a:ext cx="80467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 + BoW — сильна базова модель для текстових задач на невеликих датасетах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потребує більше даних та pretrained embeddings (GloVe/fastText) для перевершення класичного 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Дисбаланс класів критично впливає на результат — class_weight та підбір порогу є обов'язковими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слів важливий для RNN: стоп-слова не видаляються на відміну від BoW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 BoW + BiLSTM може перевершити кожну модель окремо завдяки кореляції 0.79 між задачами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 Product Reviews — NLP Project</dc:title>
  <dc:subject>PptxGenJS Presentation</dc:subject>
  <dc:creator>PptxGenJS</dc:creator>
  <cp:lastModifiedBy>PptxGenJS</cp:lastModifiedBy>
  <cp:revision>1</cp:revision>
  <dcterms:created xsi:type="dcterms:W3CDTF">2026-05-10T21:23:02Z</dcterms:created>
  <dcterms:modified xsi:type="dcterms:W3CDTF">2026-05-10T21:23:02Z</dcterms:modified>
</cp:coreProperties>
</file>